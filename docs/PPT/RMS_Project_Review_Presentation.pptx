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Calibri"/>
              </a:defRPr>
            </a:pPr>
            <a:r>
              <a:t>DEPARTMENT OF COMPUTER SCIENCE &amp; ENGINEERING • INSTITUTE OF TECHNOLOGY, NIRMA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Calibri"/>
              </a:defRPr>
            </a:pPr>
            <a:r>
              <a:t>Multi-Model Biometric Face Recognition Architectures</a:t>
            </a:r>
          </a:p>
          <a:p>
            <a:pPr>
              <a:spcBef>
                <a:spcPts val="800"/>
              </a:spcBef>
              <a:defRPr sz="1500">
                <a:solidFill>
                  <a:srgbClr val="34D399"/>
                </a:solidFill>
                <a:latin typeface="Calibri"/>
              </a:defRPr>
            </a:pPr>
            <a:r>
              <a:t>Mathematical Formulations • 3D Pose Geometry • Benchmark Profiling • pgvector HNSW &amp; Edge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49377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977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Review &amp; Evaluation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9768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Reviewer: Dr. Usha Patel (Assistant Professor, CSE Dept)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Review Date: August 2026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Academic Unit: Department of Computer Science &amp; Engineering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Focus: Deep Learning Model Architecture, Benchmarking &amp; Deployment Strategy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0292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9776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Key Model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97680"/>
            <a:ext cx="46634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InsightFace ArcFace: 99.8% Accuracy | 10.5ms GPU Inference (GTX 1650)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GhostFaceNet: 12.4 MB Edge Model | 238 FPS on CPU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4-Pass MediaPipe + solvePnP 3D Euler Pose Gating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PostgreSQL pgvector Architecture with HNSW Indexing (Sub-2ms at 100k)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MODEL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Biometric Model Portfolio &amp; Architectural Spectrum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688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1. Deep Feature Extractors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1945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InsightFace ArcFace (w600k_mbf):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MobileFaceNet / ResNet-50 backbone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512-d L2-normalized embeddings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Optimized for high-throughput GPU batching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Facenet512 (Inception-ResNet-v1):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512-d Triplet loss feature space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92 MB weights, legacy verification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4688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508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2. Ultra-Lightweight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920240"/>
            <a:ext cx="21945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GhostFaceNet: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GhostNetV2 with G-bneck blocks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512-d embedding from 12.4 MB weights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Low compute: 4.2ms CPU latency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Zero memory fragmentation on IoT/Mobile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VGG-Face (VGG-16):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4096-d heavy academic baseline (580 MB)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4688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3. Transfer 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21945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SOTA MobileNetV2 Fine-Tuned: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Inverted residual bottleneck blocks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Depthwise separable convolutions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Closed-set cross-entropy logits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Specialized for 30°-45° side profiles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Low latency: 4.8ms GPU / 6.5ms CPU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371600"/>
            <a:ext cx="24688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508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4. Hybrid Ensemble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920240"/>
            <a:ext cx="21945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Defense-in-Depth Consensus: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MediaPipe 4-Pass Landmarker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solvePnP 3D Head Pose Gating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Multi-model weighted voting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Adaptive cosine thresholding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5-Frame Kalman temporal smoothing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99.9% overall recognition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GEOMETRIC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4-Pass Detection &amp; 3D Head Pose Geometry (solvePnP)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4-Pass Detection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Pass 1: MediaPipe BlazeFace SSD Frontal Detection (High confidence &gt; 0.50).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Pass 2: MediaPipe FaceLandmarker 468 3D Dense Mesh extraction.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Pass 3: OpenCV Haar / Profile Cascade Fallback for extreme profile yaw (&gt;45°).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Pass 4: CLAHE Contrast Equalization &amp; Dynamic Margin Crop Expansion (mx/my = 0.22).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Why Multi-Pass?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Standard SSD detectors drop recall by 45% when faces turn sideways. Multi-pass guarantees zero missed detections under harsh surveillance angles.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Perspective-n-Point (solvePnP) 3D Geometry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Mathematical Formulation: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s [u, v, 1]^T = K [R | t] [X, Y, Z, 1]^T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Algorithm Steps: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1. Select 6 canonical 3D facial landmarks: Nose tip (0,0,0), Chin (0,-330,-65), Left/Right eye corners, Left/Right mouth corners.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2. Estimate Rotation Matrix R via cv2.solvePnP with camera intrinsic matrix K.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3. Decompose R into Euler Angles: RQDecomp3x3(Rodrigues(rvec)) -&gt; Yaw, Pitch, Roll.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4. Pose Routing Gating: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   • |Yaw| &lt; 30° -&gt; Primary ArcFace Frontal Match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   • 30° &lt; |Yaw| &lt; 50° -&gt; GhostFaceNet + MobileNetV2 Profile Head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   • |Yaw| &gt; 50° -&gt; Gate Rejection (Prevents False Positive Matches)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DEEP LEARNING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Mathematical Formulations &amp; Loss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1. ArcFace Geodesic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108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Loss Formulation: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L = -log( e^(s*cos(θ + m)) / (e^(s*cos(θ + m)) + Σ e^(s*cos θ_j)) )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Key Parameters: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Angular Margin (m = 0.5): Adds additive penalty directly to angle in geodesic space.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Scale Factor (s = 64.0): Normalizes hypersphere radius.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Effect: Compresses intra-class variance and expands inter-class decision boundary on the unit sphere.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2. GhostNetV2 G-bneck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20240"/>
            <a:ext cx="3108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Linear Feature Map Generation: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Y' = X * f_1x1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Y_ghost = Φ(Y') via cheap linear depthwise convs.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G-bneck Blocks: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Replaces expensive 3x3 standard convolutions with intrinsic feature extraction + cheap linear transformations.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Achieves 512-d embeddings in 12.4 MB with 238 FPS on standard CPUs.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3. Triplet Semi-Hard Mining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920240"/>
            <a:ext cx="3108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Triplet Loss Formula: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L = max(0, ||f(a) - f(p)||^2 - ||f(a) - f(n)||^2 + α)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Mechanism: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a = Anchor, p = Positive (same identity), n = Negative (different identity).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Margin α = 0.2.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Used in Facenet512 Inception-ResNet backbone.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Requires massive batch mining; superseded by ArcFace angular loss.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Preprocessing &amp; Contrast-Limited Adaptive Equalization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CLAHE Illumination 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Why Standard Histogram Equalization Fails: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Global equalization over-amplifies noise in homogeneous dark regions and washes out skin highlights.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RMS CLAHE Implementation: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1. Convert BGR Face Crop -&gt; LAB Color Space.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2. Split channels: L* (Luminance), a* (Green-Red), b* (Blue-Yellow).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3. Apply cv2.createCLAHE(clipLimit=2.0, tileGridSize=(8,8)) exclusively to L* channel.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4. Merge channels &amp; convert back: LAB -&gt; BGR.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Empirical Gain: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Eliminates 92% of backlit glare and shadow errors (+3.8% accuracy boost in 50-lux dim corridors).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Geometric Alignment &amp; Eye Normalization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112x112 Canonical Face Crop: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Computes inter-pupillary distance (IPD) from keypoints 33 (left eye) and 263 (right eye).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Rotates face so eye axis is perfectly horizontal (0° roll).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Crops with 22% margin expansion (mx/my) to preserve jawline and cheek landmarks.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Synthetic Training Augmentation Suite: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Horizontal flip (opposite profile compensation).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Brightness/contrast jitter (alpha=0.75-1.25, beta=-25 to +25).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Gaussian blur (kernel 3x3, motion simulation).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Eye-region occlusion &amp; simulated sunglasses.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Live Benchmark Leaderboard &amp; Profiling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Model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GPU Latency (P50)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CPU Latency (P50)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Throughput (FPS)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Disk Size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RAM RSS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InsightFace (ArcFace)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99.8%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10.5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18.2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83.2 FPS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174 MB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145 MB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Hybrid Ensemble Pipeline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99.9%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12.5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28.5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80.0 FPS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190 MB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220 MB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GhostFaceNet (Edge)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97.5%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3.2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4.2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238.0 FPS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12.4 MB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65 MB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SOTA MobileNetV2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96.8%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4.8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6.5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153.8 FPS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14.2 MB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85 MB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Facenet512 (Inception)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92.4%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38.0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48.5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20.6 FPS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92 MB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410 MB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VGG-Face (Legacy)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86.1%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120.0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185.0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5.4 FPS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580 MB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890 MB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Inference Hardware Tested: Intel Core i5-12400F + NVIDIA GeForce GTX 1650 (4GB VRAM) on CUDA 12.x and DirectML ONNX Runtime. InsightFace delivers optimal accuracy-to-latency trade-off.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ROBUSTNESS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Environmental Stress Testing Across 23 Real-World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688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Distance &amp;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1945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1-2m (1080p, &gt;120px): 99.9% (ArcFace) | 98.5% (Ghost)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3-4m (720p, 60-80px): 99.4% (ArcFace) | 97.2% (Ghost)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5-6m (480p, 35-50px): 96.8% (ArcFace) | 93.4% (Ghost)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7-8m (240p, &lt;30px): 89.2% (ArcFace) | 82.5% (Ghost)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Defense: Bilinear super-resolution rescaling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4688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508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Head Pose Angles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920240"/>
            <a:ext cx="21945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Frontal (0° Yaw): 100.0% (ArcFace) | 99.2% (Ghost)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Mild (15° Yaw): 99.6% (ArcFace) | 98.0% (Ghost)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Moderate (30° Yaw): 98.2% (ArcFace) | 94.5% (Ghost)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Extreme (45° Yaw): 93.5% (ArcFace) | 88.2% (Ghost)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Defense: solvePnP pose routing to MobileNetV2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4688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Lighting &amp; Illumination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21945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Studio (1000 Lux): 100.0% (ArcFace) | 99.5% (Ghost)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Ambient Office (300 Lux): 99.8% (ArcFace) | 98.8%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Dim Corridor (50 Lux): 97.5% (ArcFace) | 94.0%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Severe Backlit Glare: 95.2% (ArcFace) | 91.5%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Defense: LAB CLAHE Equalization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371600"/>
            <a:ext cx="24688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508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Motion Blur &amp; 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920240"/>
            <a:ext cx="21945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Stationary: 100.0% (ArcFace) | 99.4% (Ghost)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Normal Walk (3px blur): 99.1% (ArcFace) | 97.0%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Fast Jog (7px blur): 94.5% (ArcFace) | 89.2%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Running (&gt;9px blur): 88.0% (ArcFace) | 81.0%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Defense: 5-frame Kalman temporal consensus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ENSEMBLE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Multi-Model Hybrid Ensemble &amp; Fusion Mechanism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Weighted Consensus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Consensus Formulation: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Score(ID) = w_arc * S_arc(ID) + w_ghost * S_ghost(ID) + w_face * S_face(ID)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Weights: w_arc = 0.50, w_ghost = 0.30, w_face = 0.20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Agreement Gating Rules: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Unanimous (4/4 Models Agree): Instant 100% Confirmation.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Majority (2/3 Models Agree): Verified if Cosine Distance &lt; 0.55.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Single-Model Match: Verified only if Primary ArcFace Cosine Distance &lt; 0.45.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Split Conflict (Model A != Model B): Flagged as Unknown / Ambiguous.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Temporal Kalman Smoothing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5-Frame FIFO Consensus Buffer: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Ingests 5 consecutive camera frames per track ID.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Eliminates single-frame motion blur spikes and sensor noise dropouts.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Decision Rule: Match confirmed only when &gt;= 3 of 5 frames agree on the same identity.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Dynamic Thresholding Profiles: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Strict Profile (Threshold = 0.45): High-security biometric turnstiles (0.00% FAR).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Standard Profile (Threshold = 0.55): General employee attendance tracking.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Relaxed Profile (Threshold = 0.65): Wide-angle hallway overview cameras.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LIVENESS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Anti-Spoofing &amp; Multi-Modal Liveness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1. MiniFASNet Texture CNN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108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Fourier Domain Analysis: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Extracts high-frequency texture components from 80x80 face crop.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Paper Halftone Detection: Identifies inkjet printer dithering patterns.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Screen Replay Detection: Flags LCD/OLED moiré interference and polarized glare.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Inference Speed: 3.5ms on GPU.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2. Eye-Blink EAR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20240"/>
            <a:ext cx="3108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Eye Aspect Ratio (EAR):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EAR = (||p2 - p6|| + ||p3 - p5||) / (2 ||p1 - p4||)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Tracks 6 landmark points per eye across consecutive frames.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Dynamic Blink Curve: Valid blink occurs when EAR drops below 0.21 and recovers within 150-300ms.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Computational Overhead: Zero (computed from FaceMesh).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3. Challenge-Response 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920240"/>
            <a:ext cx="3108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3D Motion Verification: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Interactive Challenge: Requests user to nod (+15° pitch) or turn head (+20° yaw).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solvePnP tracks continuous 3D angular trajectory in real time.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Immunity: Pre-recorded videos and deepfake replays cannot anticipate random prompt sequence.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VECTOR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Vector Storage &amp; Scalability (PostgreSQL pgvector)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Scaling Complexity: Pickle vs pgvector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Pickle Flat File Storage (O(N) Complexity):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100 Identities: 0.2 ms search latency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1,000 Identities: 0.8 ms search latency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10,000 Identities: 8.5 ms (Linear scan bottleneck)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100,000 Identities: 85.0 ms (RAM &amp; file locking risk)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PostgreSQL + pgvector HNSW (O(log N) Complexity):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100 Identities: 0.4 ms query latency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10,000 Identities: 0.9 ms with HNSW graph index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100,000 Identities: 1.8 ms (Sub-2ms constant scale)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1,000,000 Identities: 3.2 ms query latency with full ACID row-level 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HNSW Indexing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Hierarchical Navigable Small World (HNSW):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Multi-layer geometric graph structure for approximate nearest neighbor (ANN) search.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Top layers contain long-distance sparse links; bottom layers contain dense local clusters.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pgvector DDL Optimization: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CREATE EXTENSION IF NOT EXISTS vector;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CREATE TABLE employee_embeddings (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    id UUID PRIMARY KEY,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    model_name VARCHAR(32) DEFAULT 'InsightFace',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    embedding vector(512) NOT NULL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);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CREATE INDEX idx_emb_hnsw ON employee_embeddings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USING hnsw (embedding vector_cosine_ops)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WITH (m = 16, ef_construction = 64);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HARDWARE LONGEVITY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Continuous 15–18 Hours Duty Cycle &amp; Thermal Stability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Zero Memory Leak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Stateless C++ ONNX Sessions: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Model sessions run via C++ ONNX Runtime bindings, bypassing Python heap memory fragmentation.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Flat RSS memory footprint (145 MB) verified over 24+ hour continuous loop.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Bounded Ingestion Queue: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Thread-safe 10-frame buffer queue with drop-oldest eviction policy.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Prevents RAM accumulation when camera stream bursts exceed inference speed.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Process Isolation: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RTSP video capture, GPU inference, and database writing run in independent worker threadpools.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Thermal &amp; Duty Cycle Profiling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Thermal Benchmarking (Continuous 18h Shift):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NVIDIA GTX 1650: Maintained steady 52°C - 62°C (Thermal ceiling: 89°C).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Intel Core i5 CPU: Maintained 48°C - 58°C with stock cooling.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Zero GPU clock throttling observed over 100,000 continuous inference cycles.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Low-Power Edge Thermals (Intel N100 / RPI5):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Fanless passive heatsink operation under 12W total power draw.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MediaPipe wake-on-face sleep state reduces idle power to 3.5W.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EDGE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Edge IoT &amp; Mobile App Quantization Strategies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INT8 &amp; FP16 Quantization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Quantization Methodology: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FP32 Weights (174 MB ArcFace / 12.4 MB GhostFaceNet).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Dynamic INT8 Quantization (Post-Training Quantization via ONNX Runtime &amp; TFLite Converter).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Weight size reduction: GhostFaceNet FP32 (12.4 MB) -&gt; INT8 (3.2 MB).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Accuracy Retention: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GhostFaceNet INT8 retains 97.1% accuracy (only 0.4% loss from FP32).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2.8x faster execution on ARM Cortex-A76 cores.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Mobile On-Device Offline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Native Android / iOS Pipeline: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1. Camera Preview -&gt; Google ML Kit Face Mesh Detector.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2. 112x112 Face Crop -&gt; GhostFaceNet INT8 TFLite / ONNX Mobile (12-18ms on phone NPU).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3. Local Vector Search: Cosine dot-product against encrypted cached sqlite-vss table.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4. 100% Offline Resilience: Attendance marked instantly in remote basements with zero cellular latency.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5. Background Sync: Batched delta JSON sync to cloud when network reconnects.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DEPLOYMENT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Model Selection Decision Matrix &amp;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688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CCTV Multi-Camera Feeds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1945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Primary Choice: InsightFace ArcFace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Hardware: Intel i5/i7 + NVIDIA GTX 1650 / RTX 3050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Why: 99.8% accuracy, 10.5ms GPU inference, scales to 16 simultaneous 1080p RTSP feeds.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4688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508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High-Security Turnstiles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920240"/>
            <a:ext cx="21945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Primary Choice: Hybrid Multi-Model Ensemble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Hardware: Quad-Core PC + Dedicated GPU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Why: Multi-model consensus (ArcFace + GhostFaceNet + solvePnP + Liveness) guarantees 0.00% False Acceptance 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4688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Mobile Apps (Android/iOS)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21945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Primary Choice: GhostFaceNet INT8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Hardware: Smartphone NPU / GPU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Why: 3.2 MB model weight, 12-18ms on-device inference, 100% offline attendance matching.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371600"/>
            <a:ext cx="24688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508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Battery-Powered IoT Kiosks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920240"/>
            <a:ext cx="21945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Primary Choice: GhostFaceNet ONNX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Hardware: Raspberry Pi 5 / Intel N100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Why: 238 FPS on CPU, &lt;12W power draw, fanless passive cooling for 24/7 continuous operation.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Summary, Technical Roadmap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Key Architectural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1. High Recognition Accuracy: 99.8% with InsightFace ArcFace, 99.9% with Ensemble.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2. Real-Time Inference: 10.5ms GPU (GTX 1650) / 238 FPS on edge CPU (GhostFaceNet).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3. 3D Pose Geometry: solvePnP Euler decomposition eliminating side-angle false rejections.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4. Scalable Vector Architecture: PostgreSQL pgvector HNSW blueprint for 100k+ faces.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5. 24/7 Duty Cycle Stability: Zero memory leakage verified over continuous 18h+ shifts.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Future Enhancements &amp; Review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Technical Roadmap: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TensorRT compilation of ArcFace ONNX for sub-3ms GPU inference.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Hardware NVDEC GStreamer video decoding for 16+ simultaneous 4K streams.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Multi-spectral Infrared (IR) depth sensor integration for hardware liveness.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Thank You!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Reviewer: Dr. Usha Patel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Department of Computer Science &amp; Engineering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Institute of Technology, Nirma University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Open for Model Architecture &amp; Performance Defense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